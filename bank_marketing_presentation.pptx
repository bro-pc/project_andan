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216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маркетинговой кампании банка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2011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Продвижение срочных депозитов через </a:t>
            </a:r>
            <a:r>
              <a:rPr lang="en-US" sz="1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обзвон</a:t>
            </a: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</a:t>
            </a:r>
            <a:endParaRPr lang="ru-RU" sz="180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13232" y="2684743"/>
            <a:ext cx="2926080" cy="0"/>
          </a:xfrm>
          <a:prstGeom prst="line">
            <a:avLst/>
          </a:prstGeom>
          <a:noFill/>
          <a:ln w="254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3703320"/>
            <a:ext cx="2377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41 188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4180637"/>
            <a:ext cx="23774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 в выборке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3703320"/>
            <a:ext cx="2377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4 640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4180637"/>
            <a:ext cx="23774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оформили депозит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3703320"/>
            <a:ext cx="2286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4180637"/>
            <a:ext cx="22860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конверсия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0" y="3703320"/>
            <a:ext cx="2377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247 636 €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44000" y="4180637"/>
            <a:ext cx="23774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при базовых допущениях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3232" y="5806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вопрос: насколько успешен обзвон и как повысить конверсию?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01</a:t>
            </a:r>
            <a:endParaRPr lang="en-US" sz="850"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9875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728C"/>
                </a:solidFill>
              </a:defRPr>
            </a:pPr>
            <a:r>
              <a:rPr dirty="0" err="1"/>
              <a:t>Команда</a:t>
            </a:r>
            <a:r>
              <a:rPr dirty="0"/>
              <a:t>: </a:t>
            </a:r>
            <a:r>
              <a:rPr dirty="0" err="1"/>
              <a:t>Шарипов</a:t>
            </a:r>
            <a:r>
              <a:rPr dirty="0"/>
              <a:t> Н. З. · </a:t>
            </a:r>
            <a:r>
              <a:rPr dirty="0" err="1"/>
              <a:t>Гоибов</a:t>
            </a:r>
            <a:r>
              <a:rPr dirty="0"/>
              <a:t> Д. А. · </a:t>
            </a:r>
            <a:r>
              <a:rPr dirty="0" err="1"/>
              <a:t>Темуров</a:t>
            </a:r>
            <a:r>
              <a:rPr dirty="0"/>
              <a:t> М. 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1C2D"/>
                </a:solidFill>
              </a:defRPr>
            </a:pPr>
            <a:r>
              <a:t>Команда и распределение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728C"/>
                </a:solidFill>
              </a:defRPr>
            </a:pPr>
            <a:r>
              <a:t>Проект был выполнен как совместная аналитическая работа: от подготовки данных до бизнес-рекомендаций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600200"/>
            <a:ext cx="438912" cy="438912"/>
          </a:xfrm>
          <a:prstGeom prst="ellipse">
            <a:avLst/>
          </a:prstGeom>
          <a:solidFill>
            <a:srgbClr val="0F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572768"/>
            <a:ext cx="2587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1C2D"/>
                </a:solidFill>
              </a:defRPr>
            </a:pPr>
            <a:r>
              <a:t>Шарипов Нуриддин Заурович</a:t>
            </a:r>
          </a:p>
          <a:p>
            <a:pPr>
              <a:defRPr sz="1100" b="1">
                <a:solidFill>
                  <a:srgbClr val="0FA6A3"/>
                </a:solidFill>
              </a:defRPr>
            </a:pPr>
            <a:r>
              <a:t>тимлид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58568"/>
            <a:ext cx="3154680" cy="13716"/>
          </a:xfrm>
          <a:prstGeom prst="rect">
            <a:avLst/>
          </a:prstGeom>
          <a:solidFill>
            <a:srgbClr val="0F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441448"/>
            <a:ext cx="31546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сформулировал цель и основные вопросы проекта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собрал логику анализа: конверсия, экономика, сегменты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координировал распределение задач и проверку выводов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оформил финальные рекомендации для бизнеса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1600200"/>
            <a:ext cx="438912" cy="438912"/>
          </a:xfrm>
          <a:prstGeom prst="ellipse">
            <a:avLst/>
          </a:prstGeom>
          <a:solidFill>
            <a:srgbClr val="0F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716" y="1572768"/>
            <a:ext cx="2587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1C2D"/>
                </a:solidFill>
              </a:defRPr>
            </a:pPr>
            <a:r>
              <a:rPr dirty="0" err="1"/>
              <a:t>Гоибов</a:t>
            </a:r>
            <a:r>
              <a:rPr dirty="0"/>
              <a:t> </a:t>
            </a:r>
            <a:r>
              <a:rPr dirty="0" err="1"/>
              <a:t>Дадоджон</a:t>
            </a:r>
            <a:r>
              <a:rPr dirty="0"/>
              <a:t> </a:t>
            </a:r>
            <a:r>
              <a:rPr dirty="0" err="1"/>
              <a:t>Абдуназарович</a:t>
            </a:r>
            <a:endParaRPr dirty="0"/>
          </a:p>
          <a:p>
            <a:pPr>
              <a:defRPr sz="1100" b="1">
                <a:solidFill>
                  <a:srgbClr val="0FA6A3"/>
                </a:solidFill>
              </a:defRPr>
            </a:pPr>
            <a:r>
              <a:rPr dirty="0" err="1"/>
              <a:t>аналитик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160520" y="2258568"/>
            <a:ext cx="3154680" cy="13716"/>
          </a:xfrm>
          <a:prstGeom prst="rect">
            <a:avLst/>
          </a:prstGeom>
          <a:solidFill>
            <a:srgbClr val="0F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2441448"/>
            <a:ext cx="31546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провел обзор структуры датасета и качества данных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посчитал общую конверсию и срезы по ключевым группам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проанализировал каналы, месяцы, профессии и прошлые кампании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подготовил таблицы и графики для интерпретации результатов</a:t>
            </a:r>
          </a:p>
        </p:txBody>
      </p:sp>
      <p:sp>
        <p:nvSpPr>
          <p:cNvPr id="13" name="Oval 12"/>
          <p:cNvSpPr/>
          <p:nvPr/>
        </p:nvSpPr>
        <p:spPr>
          <a:xfrm>
            <a:off x="7854695" y="1600200"/>
            <a:ext cx="438912" cy="438912"/>
          </a:xfrm>
          <a:prstGeom prst="ellipse">
            <a:avLst/>
          </a:prstGeom>
          <a:solidFill>
            <a:srgbClr val="0F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7" y="1572768"/>
            <a:ext cx="2587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21C2D"/>
                </a:solidFill>
              </a:defRPr>
            </a:pPr>
            <a:r>
              <a:t>Темуров Мухаммадали Абдужабборович</a:t>
            </a:r>
          </a:p>
          <a:p>
            <a:pPr>
              <a:defRPr sz="1100" b="1">
                <a:solidFill>
                  <a:srgbClr val="0FA6A3"/>
                </a:solidFill>
              </a:defRPr>
            </a:pPr>
            <a:r>
              <a:t>аналитик по экономике и модели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2258568"/>
            <a:ext cx="3154680" cy="13716"/>
          </a:xfrm>
          <a:prstGeom prst="rect">
            <a:avLst/>
          </a:prstGeom>
          <a:solidFill>
            <a:srgbClr val="0FA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2441448"/>
            <a:ext cx="315468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рассчитал прибыль, ROI и точку безубыточности кампании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сравнил финансовый эффект по клиентским сегментам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построил модель скоринга без признака duration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00">
                <a:solidFill>
                  <a:srgbClr val="354154"/>
                </a:solidFill>
              </a:defRPr>
            </a:pPr>
            <a:r>
              <a:t>• оценил стратегии обзвона top-N клиентов по модели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532120"/>
            <a:ext cx="10744200" cy="530352"/>
          </a:xfrm>
          <a:prstGeom prst="roundRect">
            <a:avLst/>
          </a:prstGeom>
          <a:solidFill>
            <a:srgbClr val="E1F7F6"/>
          </a:solidFill>
          <a:ln w="12700">
            <a:solidFill>
              <a:srgbClr val="17B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>
              <a:defRPr sz="1250" b="1">
                <a:solidFill>
                  <a:srgbClr val="0C706D"/>
                </a:solidFill>
              </a:defRPr>
            </a:pPr>
            <a:r>
              <a:t>Общий вклад: все участники обсуждали гипотезы, проверяли корректность расчетов, интерпретировали результаты и участвовали в подготовке финальной презентации.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728C"/>
                </a:solidFill>
              </a:defRPr>
            </a:pPr>
            <a:r>
              <a:t>Bank Marketing Campaign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728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не на описании датасета, а на выводах для маркетинга и бизнеса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было понять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44805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успешен ли обзвон как канал продаж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сходится ли экономика кампании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какие сегменты дают лучшую конверсию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можно ли звонить не всем, а только перспективным клиентам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анализа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411480" cy="41148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37960" y="19110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78040" y="1810512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данных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78040" y="2084832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структуры и качества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2670048"/>
            <a:ext cx="411480" cy="41148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37960" y="275234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78040" y="265176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178040" y="29260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и по сегментам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511296"/>
            <a:ext cx="411480" cy="41148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37960" y="35935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349300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78040" y="3767328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прибыль, ROI и безубыточность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4352544"/>
            <a:ext cx="411480" cy="411480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78040" y="433425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Скоринг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78040" y="4608576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отбора клиентов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983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EF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40664" y="5102352"/>
            <a:ext cx="105887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идея: не просто описать данные, а предложить решение для повышения финансового эффекта.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данных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Использовалась полная расширенная версия датасета Bank Marketing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01168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41 188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852209"/>
            <a:ext cx="201168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1417320"/>
            <a:ext cx="137160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1852209"/>
            <a:ext cx="137160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колонка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19202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4 640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1852209"/>
            <a:ext cx="192024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депозитов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86600" y="1417320"/>
            <a:ext cx="19202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86600" y="1852209"/>
            <a:ext cx="192024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NaN-пропусков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670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выбран bank-additional-full.csv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502920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это полная выборка, а не уменьшенный файл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есть расширенный набор признаков клиента и контакта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добавлены макроэкономические переменные: euribor3m, nr.employed и другие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Скрытые пропуски в виде unknown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3090672"/>
            <a:ext cx="1645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47104" y="314553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3090672"/>
            <a:ext cx="137160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193024" y="314553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0" y="3090672"/>
            <a:ext cx="14630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564624" y="314553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343814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47104" y="34930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138160" y="343814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193024" y="3493008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8 597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509760" y="3438144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564624" y="34930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92240" y="3785616"/>
            <a:ext cx="1645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47104" y="38404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138160" y="3785616"/>
            <a:ext cx="13716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93024" y="384048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1 731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9509760" y="3785616"/>
            <a:ext cx="1463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564624" y="38404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92240" y="413308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47104" y="418795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138160" y="4133088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193024" y="418795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9509760" y="4133088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564624" y="4187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492240" y="4480560"/>
            <a:ext cx="1645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47104" y="453542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8138160" y="4480560"/>
            <a:ext cx="13716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193024" y="453542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9509760" y="4480560"/>
            <a:ext cx="1463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564624" y="453542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492240" y="482803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547104" y="488289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8138160" y="4828032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193024" y="48828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9509760" y="4828032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564624" y="488289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594360" y="571500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ECFE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40664" y="5833872"/>
            <a:ext cx="10588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явных NaN нет, но unknown нужно учитывать как отдельную категорию.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успешность кампании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Обзвон приводит к депозитам, но базовая конверсия невысокая</a:t>
            </a:r>
            <a:endParaRPr lang="en-US" sz="1150" dirty="0"/>
          </a:p>
        </p:txBody>
      </p:sp>
      <p:pic>
        <p:nvPicPr>
          <p:cNvPr id="6" name="Image 0" descr="/mnt/data/outputs_unzipped/outputs/figures/01_campaig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5880"/>
            <a:ext cx="640080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1417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числа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60920" y="192024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11.27%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60920" y="2371039"/>
            <a:ext cx="246888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конверсия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60920" y="2926080"/>
            <a:ext cx="2468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36 548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60920" y="3376879"/>
            <a:ext cx="246888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отказов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60920" y="3931920"/>
            <a:ext cx="29260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4 640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360920" y="4382719"/>
            <a:ext cx="292608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успешных депозитов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60920" y="4983480"/>
            <a:ext cx="42062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кампания работает, но большая часть звонков не приводит к продаже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поэтому главный резерв улучшения - не увеличение числа звонков, а более точный отбор клиентов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 и время контакта сильно связаны с конверсией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заметно эффективнее telephone, а лучшие месяцы имеют небольшой объем</a:t>
            </a:r>
            <a:endParaRPr lang="en-US" sz="1150" dirty="0"/>
          </a:p>
        </p:txBody>
      </p:sp>
      <p:pic>
        <p:nvPicPr>
          <p:cNvPr id="6" name="Image 0" descr="/mnt/data/outputs_unzipped/outputs/figures/02_contact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83426"/>
            <a:ext cx="5303520" cy="3788229"/>
          </a:xfrm>
          <a:prstGeom prst="rect">
            <a:avLst/>
          </a:prstGeom>
        </p:spPr>
      </p:pic>
      <p:pic>
        <p:nvPicPr>
          <p:cNvPr id="7" name="Image 1" descr="/mnt/data/outputs_unzipped/outputs/figures/03_month_conver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725930"/>
            <a:ext cx="5806440" cy="29032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ECFEF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786384" y="5742432"/>
            <a:ext cx="10588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cellular: 14.7% конверсии против 5.2% у telephone. Лучшие месяцы по конверсии: mar, dec, sep, oct.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Клиентские сегменты: не все профессии одинаково перспективны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Студенты и пенсионеры имеют самую высокую конверсию, но крупные группы дают больше объема</a:t>
            </a:r>
            <a:endParaRPr lang="en-US" sz="1150" dirty="0"/>
          </a:p>
        </p:txBody>
      </p:sp>
      <p:pic>
        <p:nvPicPr>
          <p:cNvPr id="6" name="Image 0" descr="/mnt/data/outputs_unzipped/outputs/figures/04_job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583680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вывод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52360" y="1874520"/>
            <a:ext cx="4023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student: 31.4% конверсии, но всего 875 клиентов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retired: 25.2% конверсии и высокая прибыль на клиента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admin. дает больше всего депозитов из-за размера сегмента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blue-collar - большой сегмент, но конверсия всего 6.9%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7452360" y="48920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ECFEF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598664" y="5010912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Сегментацию нужно оценивать одновременно по конверсии, объему и прибыли.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Прошлая кампания и длительность звонка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сильные связи с результатом, но не все признаки пригодны для отбора клиентов заранее</a:t>
            </a:r>
            <a:endParaRPr lang="en-US" sz="1150" dirty="0"/>
          </a:p>
        </p:txBody>
      </p:sp>
      <p:pic>
        <p:nvPicPr>
          <p:cNvPr id="6" name="Image 0" descr="/mnt/data/outputs_unzipped/outputs/figures/05_poutcome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08314"/>
            <a:ext cx="5257800" cy="3755571"/>
          </a:xfrm>
          <a:prstGeom prst="rect">
            <a:avLst/>
          </a:prstGeom>
        </p:spPr>
      </p:pic>
      <p:pic>
        <p:nvPicPr>
          <p:cNvPr id="7" name="Image 1" descr="/mnt/data/outputs_unzipped/outputs/figures/06_duration_conver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623060"/>
            <a:ext cx="5852160" cy="2926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" y="5577840"/>
            <a:ext cx="10789920" cy="685800"/>
          </a:xfrm>
          <a:prstGeom prst="roundRect">
            <a:avLst>
              <a:gd name="adj" fmla="val 10667"/>
            </a:avLst>
          </a:prstGeom>
          <a:solidFill>
            <a:srgbClr val="ECFE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832104" y="5696712"/>
            <a:ext cx="10497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poutcome=success дает 65.1% конверсии. duration связан с успехом, но известен только после звонка - в модели отбора клиентов его убираем.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кампании сходится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Допущения: 3 € за звонок и 80 € выручки с одного депозита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242316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123 564 €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715049"/>
            <a:ext cx="242316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затраты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37560" y="1280160"/>
            <a:ext cx="246888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371 200 €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1715049"/>
            <a:ext cx="246888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89320" y="1280160"/>
            <a:ext cx="25603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247 636 €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89320" y="1715049"/>
            <a:ext cx="256032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23960" y="1280160"/>
            <a:ext cx="219456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200.41%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23960" y="1715049"/>
            <a:ext cx="2194560" cy="23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050" dirty="0"/>
          </a:p>
        </p:txBody>
      </p:sp>
      <p:pic>
        <p:nvPicPr>
          <p:cNvPr id="14" name="Image 0" descr="/mnt/data/outputs_unzipped/outputs/figures/07_profit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020" y="2331720"/>
            <a:ext cx="6324600" cy="3794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 эффект зависит от сегмента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прибыльная кампания может быть улучшена за счет приоритизации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по ключевым срезам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2057400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" y="1792224"/>
            <a:ext cx="1947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1737360"/>
            <a:ext cx="1005840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706624" y="1792224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0" y="1737360"/>
            <a:ext cx="1371600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712464" y="1792224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737360"/>
            <a:ext cx="1051560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84064" y="1792224"/>
            <a:ext cx="941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130552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9224" y="2185416"/>
            <a:ext cx="1947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651760" y="2130552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706624" y="2185416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14.7%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657600" y="2130552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712464" y="2185416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229 808 €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029200" y="2130552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84064" y="2185416"/>
            <a:ext cx="941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293%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94360" y="2523744"/>
            <a:ext cx="20574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9224" y="2578608"/>
            <a:ext cx="1947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651760" y="2523744"/>
            <a:ext cx="10058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706624" y="2578608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3657600" y="2523744"/>
            <a:ext cx="13716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12464" y="2578608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17 828 €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029200" y="2523744"/>
            <a:ext cx="10515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084064" y="2578608"/>
            <a:ext cx="941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39.5%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94360" y="2916936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49224" y="2971800"/>
            <a:ext cx="1947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poutcome success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2651760" y="2916936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706624" y="2971800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65.1%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3657600" y="2916936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712464" y="2971800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67 401 €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029200" y="2916936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084064" y="2971800"/>
            <a:ext cx="941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1 636%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94360" y="3310128"/>
            <a:ext cx="20574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49224" y="3364992"/>
            <a:ext cx="1947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2651760" y="3310128"/>
            <a:ext cx="100584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2706624" y="3364992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3657600" y="3310128"/>
            <a:ext cx="137160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712464" y="336499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19 375 €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29200" y="3310128"/>
            <a:ext cx="1051560" cy="3931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084064" y="3364992"/>
            <a:ext cx="941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738%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594360" y="3703320"/>
            <a:ext cx="2057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49224" y="3758184"/>
            <a:ext cx="19476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retired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2651760" y="3703320"/>
            <a:ext cx="10058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2706624" y="3758184"/>
            <a:ext cx="896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25.2%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3657600" y="3703320"/>
            <a:ext cx="13716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3712464" y="3758184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29 560 €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5029200" y="3703320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084064" y="3758184"/>
            <a:ext cx="941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573%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6583680" y="1207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означает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583680" y="1755648"/>
            <a:ext cx="475488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дорогой канал telephone можно ограничивать или заменять более дешевыми касаниями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успешный прошлый контакт - один из лучших сигналов для повторного предложения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небольшие, но качественные сегменты стоит обрабатывать первыми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крупные сегменты нужно дополнительно скорить, а не обзванивать вслепую</a:t>
            </a:r>
            <a:endParaRPr lang="en-US" sz="1420" dirty="0"/>
          </a:p>
        </p:txBody>
      </p:sp>
      <p:sp>
        <p:nvSpPr>
          <p:cNvPr id="57" name="Shape 55"/>
          <p:cNvSpPr/>
          <p:nvPr/>
        </p:nvSpPr>
        <p:spPr>
          <a:xfrm>
            <a:off x="685800" y="5559552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ECFEF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32104" y="5678424"/>
            <a:ext cx="10497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принцип: оптимизировать не конверсию отдельно, а прибыль с учетом стоимости контакта.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отбора клиентов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- предсказать вероятность депозита до звонка и не тратить ресурсы на слабые лиды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3200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0.805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803197"/>
            <a:ext cx="32004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модели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важно в постановке модели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475488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оформил депозит или нет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train/test split со стратификацией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категории кодируются OneHotEncoder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числовые признаки стандартизируются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duration исключен, чтобы не было утечки данных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44652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на тесте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12801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01384" y="183794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26680" y="1783080"/>
            <a:ext cx="10058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81544" y="183794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32520" y="1783080"/>
            <a:ext cx="10058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787384" y="183794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1783080"/>
            <a:ext cx="109728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793224" y="183794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46520" y="2167128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01384" y="22219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726680" y="216712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81544" y="222199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732520" y="216712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787384" y="222199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738360" y="2167128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793224" y="222199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446520" y="2551176"/>
            <a:ext cx="12801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501384" y="26060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726680" y="2551176"/>
            <a:ext cx="10058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781544" y="26060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0.37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8732520" y="2551176"/>
            <a:ext cx="10058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787384" y="26060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9738360" y="2551176"/>
            <a:ext cx="10972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793224" y="2606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46520" y="2935224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01384" y="29900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7726680" y="293522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781544" y="2990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732520" y="2935224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787384" y="2990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9738360" y="2935224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793224" y="29900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446520" y="3319272"/>
            <a:ext cx="12801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501384" y="33741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avg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726680" y="3319272"/>
            <a:ext cx="10058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781544" y="337413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8732520" y="3319272"/>
            <a:ext cx="10058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787384" y="337413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9738360" y="3319272"/>
            <a:ext cx="10972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793224" y="337413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6355080" y="498348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ECFEF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501384" y="5102352"/>
            <a:ext cx="4553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бизнеса важнее ранжирование клиентов, чем идеальная классификация. Поэтому основной акцент - на децилях модели.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Скоринг концентрирует почти половину депозитов в top-10%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позволяет резко повысить эффективность обзвона</a:t>
            </a:r>
            <a:endParaRPr lang="en-US" sz="1150" dirty="0"/>
          </a:p>
        </p:txBody>
      </p:sp>
      <p:pic>
        <p:nvPicPr>
          <p:cNvPr id="6" name="Image 0" descr="/mnt/data/outputs_unzipped/outputs/figures/08_model_decile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8780"/>
            <a:ext cx="65836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0920" y="1417320"/>
            <a:ext cx="29260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51.2%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60920" y="1868119"/>
            <a:ext cx="292608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 top-10%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60920" y="2468880"/>
            <a:ext cx="35661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45.4%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360920" y="2919679"/>
            <a:ext cx="35661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всех депозитов в top-10%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60920" y="3520440"/>
            <a:ext cx="35661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60920" y="3971239"/>
            <a:ext cx="35661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всех депозитов в top-20%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48006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507224" y="4919472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звонить только 20% самых перспективных клиентов, можно получить почти две трети депозитов тестовой выборки.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обзвона top-N клиентов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помогает выбрать баланс между прибылью, охватом и загрузкой операторов</a:t>
            </a:r>
            <a:endParaRPr lang="en-US" sz="1150" dirty="0"/>
          </a:p>
        </p:txBody>
      </p:sp>
      <p:pic>
        <p:nvPicPr>
          <p:cNvPr id="6" name="Image 0" descr="/mnt/data/outputs_unzipped/outputs/figures/09_model_strategy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5280"/>
            <a:ext cx="6812280" cy="378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рабочие стратегии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43800" y="18288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top-80%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543800" y="2253082"/>
            <a:ext cx="274320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прибыли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4380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63 449 € прибыли против 61 909 € при обзвоне всех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3800" y="3291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EA5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top-20%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543800" y="3716122"/>
            <a:ext cx="274320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эффективности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543800" y="4005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36.5% конверсии, 873.9% ROI и 64.8% всех депозитов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43800" y="516636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ECFE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690104" y="5285232"/>
            <a:ext cx="36850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начинать обзвон с top-20%, затем расширяться до top-80% при наличии ресурсов.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Финальные выводы и рекомендации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412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Обзвон прибыльный, но лучшая стратегия - скоринг и приоритизация клиентов</a:t>
            </a:r>
            <a:endParaRPr lang="en-US" sz="1150" dirty="0"/>
          </a:p>
        </p:txBody>
      </p:sp>
      <p:pic>
        <p:nvPicPr>
          <p:cNvPr id="6" name="Image 0" descr="/mnt/data/outputs_unzipped/outputs/figures/10_mode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31620"/>
            <a:ext cx="603504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1234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на основной вопрос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03720" y="1691640"/>
            <a:ext cx="46634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кампания успешна: 11.27% конверсии выше точки безубыточности 3.75%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базовых допущениях прибыль составляет 247 636 €, ROI - 200.41%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главный резерв роста - не больше звонков, а лучшее ранжирование клиентов</a:t>
            </a:r>
            <a:endParaRPr lang="en-US" sz="1410" dirty="0"/>
          </a:p>
          <a:p>
            <a:pPr marL="0" indent="0">
              <a:buNone/>
            </a:pPr>
            <a:r>
              <a:rPr lang="en-US" sz="141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низкоскоринговых клиентов лучше исключать или переводить в более дешевый канал</a:t>
            </a:r>
            <a:endParaRPr lang="en-US" sz="1410" dirty="0"/>
          </a:p>
        </p:txBody>
      </p:sp>
      <p:sp>
        <p:nvSpPr>
          <p:cNvPr id="9" name="Text 6"/>
          <p:cNvSpPr/>
          <p:nvPr/>
        </p:nvSpPr>
        <p:spPr>
          <a:xfrm>
            <a:off x="6903720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внедрить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903720" y="4700016"/>
            <a:ext cx="46634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скоринг перед кампанией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приоритет cellular и клиентов с успешным прошлым контактом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отдельные правила для студентов и пенсионеров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контроль экономики по сегментам после каждой кампании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Marketing Campaign Analysis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 sz="800">
                <a:solidFill>
                  <a:srgbClr val="5F728C"/>
                </a:solidFill>
              </a:defRPr>
            </a:pPr>
            <a: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1176</Words>
  <Application>Microsoft Office PowerPoint</Application>
  <PresentationFormat>Широкоэкранный</PresentationFormat>
  <Paragraphs>261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маркетинговой кампании банка</dc:title>
  <dc:subject>Bank Marketing Campaign Analysis</dc:subject>
  <dc:creator>OpenAI</dc:creator>
  <cp:lastModifiedBy>Bro Bro</cp:lastModifiedBy>
  <cp:revision>2</cp:revision>
  <dcterms:created xsi:type="dcterms:W3CDTF">2026-06-24T09:39:09Z</dcterms:created>
  <dcterms:modified xsi:type="dcterms:W3CDTF">2026-06-24T11:18:42Z</dcterms:modified>
</cp:coreProperties>
</file>